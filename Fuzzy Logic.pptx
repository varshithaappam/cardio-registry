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3" r:id="rId7"/>
    <p:sldId id="262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51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CF185-9C25-7117-5518-0A07EDB5B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0ABA0-43F4-F500-394D-78FBB5801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55586-48AD-5E09-FEFB-F59DD679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90909-904F-526D-4DB6-8C9A6598E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3BF83-19A8-C4A3-263F-A376CB1D7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13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EE47-A5B2-7F13-D391-CD4251E4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84C0A-1E19-7F1A-8D14-58FE6FF9F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91F32-95DE-8140-4A88-7F2727C11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50AD0-4CAF-7755-17CE-7F282CFEB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85633-B94D-DC37-BB3F-FCC68BC3B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45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FA14-1FCA-97D4-5F49-B3FB477ED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0D6A3-43C3-F315-862A-32A7F44ED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C3A9F-5CF7-9C66-3EB5-BBB4329F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410CE-B05B-7BDF-B318-982E80B9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7599-CE63-EA93-C1BF-15D8ABCA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90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4D6F-065C-DA09-E06F-DDF09DBE1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843C1-605F-EC3A-E419-D36AD6A72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F72FB-C45D-6D0F-4ABF-5A7D8BE5B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66C0B-6B5D-7B7B-F7DA-350EE46E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62B82-FDBB-4372-0A1A-F8254D89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A6411-E74E-2DB3-19A4-91D88152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37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0A045-50A2-37FC-F91C-084FE3B3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45EDA-C243-A98F-68D6-A47EB646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D73D5-5550-5DCB-F8D4-30FEDD4BA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A55CB9-181B-5042-A701-59B455710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14A3C-D129-341E-1BAA-4503DD97F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43546-BF9F-16D8-784A-C1404861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B1A4BD-6340-8B4A-C449-EF94BC8A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30FC9-268B-E350-0F5F-96F882FA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86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71EE-C4EC-5A06-1C3D-4240D3A0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824C3-4C9C-8616-99B7-79C96FB4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4EA8E-4598-42AA-AA9F-B6F77F50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620F9-8E77-B197-25B8-62066D9D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570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69CE8-384C-24A4-4641-2F59D86A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928CA3-FA78-83CF-47D8-2AEC8889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118E7-8072-8547-61F8-D6E4A745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921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1CEA-E24F-E2F6-591A-5C03E751C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94DAC-6508-BCFF-5EFD-CBB0C89BF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A0AD4-57D0-3EC2-9FF9-9924CF18F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54546-47BA-EEEE-1BE9-14DA00C6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889A4-59B3-1B47-8258-C16AB604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D8E78-AEAD-5E24-EBD5-F745D2EC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268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1053-C58F-916F-A79D-F25C3D5F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E3534B-876E-B176-8BA1-781A1EF15F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FEC3C-7A08-1098-49F2-BA15F25F7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5E7B5-EF93-BA6A-B33E-FF2BA6D0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1CE6B-0CFD-1A32-F9EA-536D94A9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65C7C-58B2-1873-7109-5923826E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9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60C8-1ED1-92AD-5BAF-30B76E78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525A5-A60A-2EDB-B876-98855A327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975C8-9490-01B4-FA3D-FF8444D3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12170-F17F-3C7A-29BF-C01E8102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3FE56-2395-3757-96EA-95469B9D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2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DE5C8-838C-C28D-8FAE-3D86CADC3D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C5804-E7A2-F134-CA49-F5E185B11C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2F1C6-6F9D-F69E-A591-CB01B6D24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DB2AF-65E6-9EC9-C9AA-5E19CA4E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7B09-8B91-354B-14A8-F072F988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3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E7483-8B2D-6B6F-2D52-937D5E75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D7F87-5E80-44F1-FEDC-5153B0720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5D31D-5965-258F-EC9C-4E6928A92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4D1FC-6A75-46AD-B01C-1F4DDC94A718}" type="datetimeFigureOut">
              <a:rPr lang="en-IN" smtClean="0"/>
              <a:t>28-08-2026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07FE-1721-6AD3-494C-5C837EA4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A9011-601C-FB59-91BC-D622A8708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74F08-51F7-421E-B995-CD2F77AB5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47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sunita.devi@gmail.com" TargetMode="External"/><Relationship Id="rId2" Type="http://schemas.openxmlformats.org/officeDocument/2006/relationships/hyperlink" Target="mailto:ramesh.malhotra@gmail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0A89E-BF9F-13CD-76D1-B8CB9FF9B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61" y="533379"/>
            <a:ext cx="10591877" cy="579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44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CE0A16-96D1-719A-52F9-A412147D06B0}"/>
              </a:ext>
            </a:extLst>
          </p:cNvPr>
          <p:cNvSpPr/>
          <p:nvPr/>
        </p:nvSpPr>
        <p:spPr>
          <a:xfrm>
            <a:off x="259077" y="1480951"/>
            <a:ext cx="2344096" cy="17129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chemeClr val="tx1"/>
                </a:solidFill>
              </a:rPr>
              <a:t>Exact Match Rule Engine</a:t>
            </a:r>
          </a:p>
          <a:p>
            <a:endParaRPr lang="en-IN" sz="1200" b="1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MR. No </a:t>
            </a:r>
          </a:p>
          <a:p>
            <a:r>
              <a:rPr lang="en-IN" sz="1200" dirty="0">
                <a:solidFill>
                  <a:schemeClr val="tx1"/>
                </a:solidFill>
              </a:rPr>
              <a:t>ABHA </a:t>
            </a:r>
          </a:p>
          <a:p>
            <a:r>
              <a:rPr lang="en-IN" sz="1200" dirty="0">
                <a:solidFill>
                  <a:schemeClr val="tx1"/>
                </a:solidFill>
              </a:rPr>
              <a:t>UHID </a:t>
            </a:r>
          </a:p>
          <a:p>
            <a:r>
              <a:rPr lang="en-IN" sz="1200" dirty="0">
                <a:solidFill>
                  <a:schemeClr val="tx1"/>
                </a:solidFill>
              </a:rPr>
              <a:t>Phone </a:t>
            </a:r>
          </a:p>
          <a:p>
            <a:r>
              <a:rPr lang="en-IN" sz="1200" dirty="0">
                <a:solidFill>
                  <a:schemeClr val="tx1"/>
                </a:solidFill>
              </a:rPr>
              <a:t>Email </a:t>
            </a:r>
          </a:p>
          <a:p>
            <a:r>
              <a:rPr lang="en-IN" sz="1200" dirty="0">
                <a:solidFill>
                  <a:schemeClr val="tx1"/>
                </a:solidFill>
              </a:rPr>
              <a:t>DOB + Name + Phone + Pin code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F053A1D-8CE5-20F5-926E-6280F03C095F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603173" y="2005149"/>
            <a:ext cx="721324" cy="3322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38816CD-9B5C-70A7-C5FC-A440395536AC}"/>
              </a:ext>
            </a:extLst>
          </p:cNvPr>
          <p:cNvCxnSpPr>
            <a:cxnSpLocks/>
            <a:stCxn id="4" idx="3"/>
            <a:endCxn id="34" idx="1"/>
          </p:cNvCxnSpPr>
          <p:nvPr/>
        </p:nvCxnSpPr>
        <p:spPr>
          <a:xfrm>
            <a:off x="2603173" y="2337410"/>
            <a:ext cx="721324" cy="23674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D2B79C-27BE-925D-9A6C-58201B97A51F}"/>
              </a:ext>
            </a:extLst>
          </p:cNvPr>
          <p:cNvSpPr txBox="1"/>
          <p:nvPr/>
        </p:nvSpPr>
        <p:spPr>
          <a:xfrm>
            <a:off x="2910153" y="1700519"/>
            <a:ext cx="414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Yes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ADE539-833B-AC6A-812C-194B9109E283}"/>
              </a:ext>
            </a:extLst>
          </p:cNvPr>
          <p:cNvSpPr txBox="1"/>
          <p:nvPr/>
        </p:nvSpPr>
        <p:spPr>
          <a:xfrm>
            <a:off x="2956658" y="4136560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No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6C389E-FDDB-97B7-641B-3A0FDB920A75}"/>
              </a:ext>
            </a:extLst>
          </p:cNvPr>
          <p:cNvSpPr/>
          <p:nvPr/>
        </p:nvSpPr>
        <p:spPr>
          <a:xfrm>
            <a:off x="3389811" y="1175401"/>
            <a:ext cx="2847704" cy="132723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Existing Patient Identified</a:t>
            </a:r>
          </a:p>
          <a:p>
            <a:pPr algn="ctr"/>
            <a:endParaRPr lang="en-IN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Give the details of the patient and let user select 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Upon select populate all the fields from patient master</a:t>
            </a:r>
          </a:p>
          <a:p>
            <a:pPr algn="ctr"/>
            <a:r>
              <a:rPr lang="en-IN" sz="1200" dirty="0">
                <a:solidFill>
                  <a:schemeClr val="tx1"/>
                </a:solidFill>
              </a:rPr>
              <a:t>[View Patient]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6AA0C7-FC7C-A83E-21D4-EB75AED018E3}"/>
              </a:ext>
            </a:extLst>
          </p:cNvPr>
          <p:cNvSpPr/>
          <p:nvPr/>
        </p:nvSpPr>
        <p:spPr>
          <a:xfrm>
            <a:off x="3324497" y="3639879"/>
            <a:ext cx="2847704" cy="212997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Generate Patient List (Fuzzy Match)</a:t>
            </a:r>
          </a:p>
          <a:p>
            <a:pPr algn="ctr"/>
            <a:endParaRPr lang="en-IN" sz="1200" b="1" dirty="0">
              <a:solidFill>
                <a:schemeClr val="tx1"/>
              </a:solidFill>
            </a:endParaRPr>
          </a:p>
          <a:p>
            <a:r>
              <a:rPr lang="en-IN" sz="1200" dirty="0">
                <a:solidFill>
                  <a:schemeClr val="tx1"/>
                </a:solidFill>
              </a:rPr>
              <a:t>DOB / Birth Year</a:t>
            </a:r>
          </a:p>
          <a:p>
            <a:r>
              <a:rPr lang="en-IN" sz="1200" dirty="0">
                <a:solidFill>
                  <a:schemeClr val="tx1"/>
                </a:solidFill>
              </a:rPr>
              <a:t>Phone</a:t>
            </a:r>
          </a:p>
          <a:p>
            <a:r>
              <a:rPr lang="en-IN" sz="1200" dirty="0">
                <a:solidFill>
                  <a:schemeClr val="tx1"/>
                </a:solidFill>
              </a:rPr>
              <a:t>Name </a:t>
            </a:r>
          </a:p>
          <a:p>
            <a:r>
              <a:rPr lang="en-IN" sz="1200" dirty="0">
                <a:solidFill>
                  <a:schemeClr val="tx1"/>
                </a:solidFill>
              </a:rPr>
              <a:t>Pin Code</a:t>
            </a:r>
          </a:p>
          <a:p>
            <a:r>
              <a:rPr lang="en-IN" sz="1200" dirty="0">
                <a:solidFill>
                  <a:schemeClr val="tx1"/>
                </a:solidFill>
              </a:rPr>
              <a:t>Address </a:t>
            </a:r>
          </a:p>
          <a:p>
            <a:r>
              <a:rPr lang="en-IN" sz="1200" dirty="0">
                <a:solidFill>
                  <a:schemeClr val="tx1"/>
                </a:solidFill>
              </a:rPr>
              <a:t>Gender 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C0EB879-5622-62CD-82C1-A4B4D9BF3EDD}"/>
              </a:ext>
            </a:extLst>
          </p:cNvPr>
          <p:cNvCxnSpPr>
            <a:cxnSpLocks/>
            <a:stCxn id="89" idx="0"/>
            <a:endCxn id="45" idx="2"/>
          </p:cNvCxnSpPr>
          <p:nvPr/>
        </p:nvCxnSpPr>
        <p:spPr>
          <a:xfrm rot="5400000" flipH="1" flipV="1">
            <a:off x="7984414" y="1698157"/>
            <a:ext cx="854276" cy="7862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A782765-C94E-40CF-17D8-0F579BF73600}"/>
              </a:ext>
            </a:extLst>
          </p:cNvPr>
          <p:cNvCxnSpPr>
            <a:cxnSpLocks/>
            <a:stCxn id="34" idx="3"/>
            <a:endCxn id="89" idx="1"/>
          </p:cNvCxnSpPr>
          <p:nvPr/>
        </p:nvCxnSpPr>
        <p:spPr>
          <a:xfrm flipV="1">
            <a:off x="6172201" y="2998632"/>
            <a:ext cx="779418" cy="17062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777EBF7-432A-776D-0F2C-7F6EF32383AF}"/>
              </a:ext>
            </a:extLst>
          </p:cNvPr>
          <p:cNvSpPr/>
          <p:nvPr/>
        </p:nvSpPr>
        <p:spPr>
          <a:xfrm>
            <a:off x="7024153" y="76253"/>
            <a:ext cx="3561063" cy="158789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High Confidence &gt;=95%</a:t>
            </a:r>
          </a:p>
          <a:p>
            <a:pPr algn="ctr"/>
            <a:endParaRPr lang="en-IN" sz="1200" b="1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Indicate Existing patient with confidence score to user with the message “Duplicate patient found”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Upon select populate all the fields from patient master</a:t>
            </a:r>
          </a:p>
          <a:p>
            <a:pPr algn="ctr"/>
            <a:r>
              <a:rPr lang="en-IN" sz="1400" b="1" dirty="0">
                <a:solidFill>
                  <a:schemeClr val="tx1"/>
                </a:solidFill>
              </a:rPr>
              <a:t>[View Patient List with Matching score]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719E05-9DBC-7710-3115-0BD215853454}"/>
              </a:ext>
            </a:extLst>
          </p:cNvPr>
          <p:cNvSpPr/>
          <p:nvPr/>
        </p:nvSpPr>
        <p:spPr>
          <a:xfrm>
            <a:off x="9282253" y="1839017"/>
            <a:ext cx="2847704" cy="198555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Review Required &gt;=80%</a:t>
            </a:r>
          </a:p>
          <a:p>
            <a:pPr algn="ctr"/>
            <a:endParaRPr lang="en-IN" sz="1200" b="1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Show patients list where confidence level is between 95% and 80%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rgbClr val="FF0000"/>
                </a:solidFill>
              </a:rPr>
              <a:t>The list should show patient name along with confidence score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Upon select populate all the fields from patient master</a:t>
            </a:r>
          </a:p>
          <a:p>
            <a:pPr algn="ctr"/>
            <a:r>
              <a:rPr lang="en-IN" sz="1200" b="1" dirty="0">
                <a:solidFill>
                  <a:schemeClr val="tx1"/>
                </a:solidFill>
              </a:rPr>
              <a:t>[View Patient List with Matching score]</a:t>
            </a:r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EFE59826-49AB-8C39-47B0-CCE1A409B853}"/>
              </a:ext>
            </a:extLst>
          </p:cNvPr>
          <p:cNvCxnSpPr>
            <a:cxnSpLocks/>
            <a:stCxn id="89" idx="3"/>
            <a:endCxn id="49" idx="1"/>
          </p:cNvCxnSpPr>
          <p:nvPr/>
        </p:nvCxnSpPr>
        <p:spPr>
          <a:xfrm flipV="1">
            <a:off x="9085219" y="2831794"/>
            <a:ext cx="197034" cy="1668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9CC6615-8604-B5B2-546A-33726F96804F}"/>
              </a:ext>
            </a:extLst>
          </p:cNvPr>
          <p:cNvSpPr/>
          <p:nvPr/>
        </p:nvSpPr>
        <p:spPr>
          <a:xfrm>
            <a:off x="9533513" y="3918732"/>
            <a:ext cx="2527666" cy="9012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chemeClr val="tx1"/>
                </a:solidFill>
              </a:rPr>
              <a:t>High Confidence &lt;80%</a:t>
            </a:r>
          </a:p>
          <a:p>
            <a:pPr algn="ctr"/>
            <a:endParaRPr lang="en-IN" sz="1200" b="1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200" dirty="0">
                <a:solidFill>
                  <a:schemeClr val="tx1"/>
                </a:solidFill>
              </a:rPr>
              <a:t>Register New Patient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8473C98-5846-D1BC-2AAF-8AF43334E300}"/>
              </a:ext>
            </a:extLst>
          </p:cNvPr>
          <p:cNvCxnSpPr>
            <a:cxnSpLocks/>
            <a:stCxn id="89" idx="2"/>
            <a:endCxn id="55" idx="1"/>
          </p:cNvCxnSpPr>
          <p:nvPr/>
        </p:nvCxnSpPr>
        <p:spPr>
          <a:xfrm rot="16200000" flipH="1">
            <a:off x="8330695" y="3166559"/>
            <a:ext cx="890543" cy="15150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82CF112-EC14-1803-3B17-CE114DC4277A}"/>
              </a:ext>
            </a:extLst>
          </p:cNvPr>
          <p:cNvSpPr txBox="1"/>
          <p:nvPr/>
        </p:nvSpPr>
        <p:spPr>
          <a:xfrm>
            <a:off x="411479" y="1036901"/>
            <a:ext cx="2498673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Layer 1 - Deterministic matching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5203771-6446-4948-2F3C-4EBB6EAADFCD}"/>
              </a:ext>
            </a:extLst>
          </p:cNvPr>
          <p:cNvSpPr/>
          <p:nvPr/>
        </p:nvSpPr>
        <p:spPr>
          <a:xfrm>
            <a:off x="650968" y="3300537"/>
            <a:ext cx="1371600" cy="16720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Mr. No – Only if it’s not autogenerated – Varshitha to verify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787C7D-90CD-2948-12AD-7498F611EA1F}"/>
              </a:ext>
            </a:extLst>
          </p:cNvPr>
          <p:cNvSpPr txBox="1"/>
          <p:nvPr/>
        </p:nvSpPr>
        <p:spPr>
          <a:xfrm>
            <a:off x="3218560" y="103851"/>
            <a:ext cx="3561063" cy="9848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IN" b="1" dirty="0"/>
              <a:t>Layer 2 - Candidate generation</a:t>
            </a:r>
          </a:p>
          <a:p>
            <a:endParaRPr lang="en-IN" sz="500" b="1" dirty="0"/>
          </a:p>
          <a:p>
            <a:r>
              <a:rPr lang="en-IN" dirty="0"/>
              <a:t>If deterministic matching finds nothing, don't compare against every patient.</a:t>
            </a:r>
          </a:p>
          <a:p>
            <a:endParaRPr lang="en-IN" sz="500" b="1" dirty="0"/>
          </a:p>
          <a:p>
            <a:r>
              <a:rPr lang="en-IN" b="1" dirty="0"/>
              <a:t>Index Patient Table to optimize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75EF46-F75C-B491-4662-2026F8F073BE}"/>
              </a:ext>
            </a:extLst>
          </p:cNvPr>
          <p:cNvSpPr txBox="1"/>
          <p:nvPr/>
        </p:nvSpPr>
        <p:spPr>
          <a:xfrm>
            <a:off x="3022965" y="2955066"/>
            <a:ext cx="3455122" cy="64633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Layer 3 — Fuzzy Match Engine</a:t>
            </a:r>
          </a:p>
          <a:p>
            <a:pPr algn="ctr"/>
            <a:r>
              <a:rPr lang="en-IN" b="0" dirty="0"/>
              <a:t>For each candidate, calculate individual field scores.</a:t>
            </a:r>
          </a:p>
        </p:txBody>
      </p:sp>
      <p:sp>
        <p:nvSpPr>
          <p:cNvPr id="89" name="Frame 88">
            <a:extLst>
              <a:ext uri="{FF2B5EF4-FFF2-40B4-BE49-F238E27FC236}">
                <a16:creationId xmlns:a16="http://schemas.microsoft.com/office/drawing/2014/main" id="{A4BED88E-282F-49BE-12E0-86282C753FAF}"/>
              </a:ext>
            </a:extLst>
          </p:cNvPr>
          <p:cNvSpPr/>
          <p:nvPr/>
        </p:nvSpPr>
        <p:spPr>
          <a:xfrm>
            <a:off x="6951619" y="2518428"/>
            <a:ext cx="2133600" cy="960407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Weighted Score /  Confidence Score Engine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3055B59-FCBD-8E01-F9D8-D86F467B8F85}"/>
              </a:ext>
            </a:extLst>
          </p:cNvPr>
          <p:cNvSpPr txBox="1"/>
          <p:nvPr/>
        </p:nvSpPr>
        <p:spPr>
          <a:xfrm>
            <a:off x="6384811" y="5218892"/>
            <a:ext cx="3048913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IN" sz="1200" dirty="0"/>
              <a:t>Possible Existing Patients</a:t>
            </a:r>
          </a:p>
          <a:p>
            <a:endParaRPr lang="en-IN" sz="400" dirty="0"/>
          </a:p>
          <a:p>
            <a:r>
              <a:rPr lang="en-IN" sz="1200" dirty="0"/>
              <a:t>1. Ramesh Chandra Rathi; MR000123</a:t>
            </a:r>
          </a:p>
          <a:p>
            <a:r>
              <a:rPr lang="en-IN" sz="1200" dirty="0"/>
              <a:t>   Match: 96.8%</a:t>
            </a:r>
          </a:p>
          <a:p>
            <a:endParaRPr lang="en-IN" sz="400" dirty="0"/>
          </a:p>
          <a:p>
            <a:r>
              <a:rPr lang="en-IN" sz="1200" dirty="0"/>
              <a:t>2. Ramesh Kumar Rathi; MR001872</a:t>
            </a:r>
          </a:p>
          <a:p>
            <a:r>
              <a:rPr lang="en-IN" sz="1200" dirty="0"/>
              <a:t>   Match: 91.4%</a:t>
            </a:r>
          </a:p>
          <a:p>
            <a:endParaRPr lang="en-IN" sz="400" dirty="0"/>
          </a:p>
          <a:p>
            <a:r>
              <a:rPr lang="en-IN" sz="1200" dirty="0"/>
              <a:t>3. Ramesh C Rathi; MR002341</a:t>
            </a:r>
          </a:p>
          <a:p>
            <a:r>
              <a:rPr lang="en-IN" sz="1200" dirty="0"/>
              <a:t>   Match: 83.7%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52D77CD-B861-C720-C04D-33E479B75255}"/>
              </a:ext>
            </a:extLst>
          </p:cNvPr>
          <p:cNvSpPr txBox="1"/>
          <p:nvPr/>
        </p:nvSpPr>
        <p:spPr>
          <a:xfrm>
            <a:off x="6384810" y="4944083"/>
            <a:ext cx="3048913" cy="276999"/>
          </a:xfrm>
          <a:prstGeom prst="rect">
            <a:avLst/>
          </a:prstGeom>
          <a:gradFill>
            <a:gsLst>
              <a:gs pos="0">
                <a:srgbClr val="50ABA3"/>
              </a:gs>
              <a:gs pos="100000">
                <a:srgbClr val="47904E"/>
              </a:gs>
            </a:gsLst>
            <a:lin ang="2700000" scaled="0"/>
          </a:gra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IN" b="1" dirty="0"/>
              <a:t>Display Patient List Format: </a:t>
            </a:r>
          </a:p>
        </p:txBody>
      </p:sp>
    </p:spTree>
    <p:extLst>
      <p:ext uri="{BB962C8B-B14F-4D97-AF65-F5344CB8AC3E}">
        <p14:creationId xmlns:p14="http://schemas.microsoft.com/office/powerpoint/2010/main" val="4169036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882709-F9C7-CD12-4035-4D059F79C5A7}"/>
              </a:ext>
            </a:extLst>
          </p:cNvPr>
          <p:cNvSpPr txBox="1"/>
          <p:nvPr/>
        </p:nvSpPr>
        <p:spPr>
          <a:xfrm>
            <a:off x="553538" y="133588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Scoring Model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0CCCCA2-CB8D-6938-EDC4-3F87E99FE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66046"/>
              </p:ext>
            </p:extLst>
          </p:nvPr>
        </p:nvGraphicFramePr>
        <p:xfrm>
          <a:off x="661850" y="846613"/>
          <a:ext cx="4439196" cy="2941614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219598">
                  <a:extLst>
                    <a:ext uri="{9D8B030D-6E8A-4147-A177-3AD203B41FA5}">
                      <a16:colId xmlns:a16="http://schemas.microsoft.com/office/drawing/2014/main" val="112522966"/>
                    </a:ext>
                  </a:extLst>
                </a:gridCol>
                <a:gridCol w="2219598">
                  <a:extLst>
                    <a:ext uri="{9D8B030D-6E8A-4147-A177-3AD203B41FA5}">
                      <a16:colId xmlns:a16="http://schemas.microsoft.com/office/drawing/2014/main" val="700637183"/>
                    </a:ext>
                  </a:extLst>
                </a:gridCol>
              </a:tblGrid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74912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ABHA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8445050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UHID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8678856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191874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704208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0076691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Address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837241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6274"/>
                  </a:ext>
                </a:extLst>
              </a:tr>
              <a:tr h="326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431524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43BFB3C-7549-68C7-3C8E-E71E184A1762}"/>
              </a:ext>
            </a:extLst>
          </p:cNvPr>
          <p:cNvSpPr txBox="1"/>
          <p:nvPr/>
        </p:nvSpPr>
        <p:spPr>
          <a:xfrm>
            <a:off x="553538" y="3918079"/>
            <a:ext cx="62718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Don't simply calculate this as a normal weighted average when fields are missing.</a:t>
            </a:r>
            <a:endParaRPr lang="en-IN" dirty="0"/>
          </a:p>
          <a:p>
            <a:pPr>
              <a:buNone/>
            </a:pPr>
            <a:r>
              <a:rPr lang="en-IN" dirty="0"/>
              <a:t>For example, if ABHA isn't provided, its 25% should not automatically become a mismatch.</a:t>
            </a:r>
          </a:p>
          <a:p>
            <a:pPr>
              <a:buNone/>
            </a:pPr>
            <a:r>
              <a:rPr lang="en-IN" b="1" dirty="0"/>
              <a:t>Use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/>
              <a:t>Score = Σ(weight × </a:t>
            </a:r>
            <a:r>
              <a:rPr lang="en-IN" dirty="0" err="1"/>
              <a:t>field_score</a:t>
            </a:r>
            <a:r>
              <a:rPr lang="en-IN" dirty="0"/>
              <a:t> × </a:t>
            </a:r>
            <a:r>
              <a:rPr lang="en-IN" dirty="0" err="1"/>
              <a:t>field_available</a:t>
            </a:r>
            <a:r>
              <a:rPr lang="en-IN" dirty="0"/>
              <a:t>)/ Σ(weight × </a:t>
            </a:r>
            <a:r>
              <a:rPr lang="en-IN" dirty="0" err="1"/>
              <a:t>field_available</a:t>
            </a:r>
            <a:r>
              <a:rPr lang="en-IN" dirty="0"/>
              <a:t>)</a:t>
            </a:r>
          </a:p>
          <a:p>
            <a:pPr rtl="0"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So missing data is </a:t>
            </a:r>
            <a:r>
              <a:rPr lang="en-IN" b="1" dirty="0"/>
              <a:t>neutral</a:t>
            </a:r>
            <a:r>
              <a:rPr lang="en-IN" dirty="0"/>
              <a:t>, not negative.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5ADBF5-253A-C2CB-0E24-C787951819DA}"/>
              </a:ext>
            </a:extLst>
          </p:cNvPr>
          <p:cNvSpPr txBox="1"/>
          <p:nvPr/>
        </p:nvSpPr>
        <p:spPr>
          <a:xfrm>
            <a:off x="7299418" y="1630385"/>
            <a:ext cx="42062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ABHA exact match               	+100</a:t>
            </a:r>
          </a:p>
          <a:p>
            <a:r>
              <a:rPr lang="en-IN" sz="1200" dirty="0"/>
              <a:t>UHID exact match               	+100</a:t>
            </a:r>
          </a:p>
          <a:p>
            <a:r>
              <a:rPr lang="en-IN" sz="1200" dirty="0"/>
              <a:t>Phone exact match             	+40</a:t>
            </a:r>
          </a:p>
          <a:p>
            <a:r>
              <a:rPr lang="en-IN" sz="1200" dirty="0"/>
              <a:t>DOB exact match                	+30</a:t>
            </a:r>
          </a:p>
          <a:p>
            <a:r>
              <a:rPr lang="en-IN" sz="1200" dirty="0"/>
              <a:t>Name similarity &gt; 0.90         	+25</a:t>
            </a:r>
          </a:p>
          <a:p>
            <a:r>
              <a:rPr lang="en-IN" sz="1200" dirty="0"/>
              <a:t>Address similarity &gt; 0.85      	+10</a:t>
            </a:r>
          </a:p>
          <a:p>
            <a:r>
              <a:rPr lang="en-IN" sz="1200" dirty="0"/>
              <a:t>Gender exact                   	+5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5BFFB-3A15-454F-129A-51C518401532}"/>
              </a:ext>
            </a:extLst>
          </p:cNvPr>
          <p:cNvSpPr txBox="1"/>
          <p:nvPr/>
        </p:nvSpPr>
        <p:spPr>
          <a:xfrm>
            <a:off x="7353844" y="1201400"/>
            <a:ext cx="3391443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Strong positive evidence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D4E43F-7FFC-A9CD-2D56-8D24BBA9E3E6}"/>
              </a:ext>
            </a:extLst>
          </p:cNvPr>
          <p:cNvSpPr txBox="1"/>
          <p:nvPr/>
        </p:nvSpPr>
        <p:spPr>
          <a:xfrm>
            <a:off x="7353844" y="3735682"/>
            <a:ext cx="4206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DOB conflict 		-40 </a:t>
            </a:r>
          </a:p>
          <a:p>
            <a:r>
              <a:rPr lang="en-IN" sz="1200" dirty="0"/>
              <a:t>Gender conflict 	-20 </a:t>
            </a:r>
          </a:p>
          <a:p>
            <a:r>
              <a:rPr lang="en-IN" sz="1200" dirty="0"/>
              <a:t>Phone conflict 	-15 </a:t>
            </a:r>
          </a:p>
          <a:p>
            <a:r>
              <a:rPr lang="en-IN" sz="1200" dirty="0"/>
              <a:t>ABHA conflict 	-100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E84B8D-D3B0-0347-F9CA-478D4452BD48}"/>
              </a:ext>
            </a:extLst>
          </p:cNvPr>
          <p:cNvSpPr txBox="1"/>
          <p:nvPr/>
        </p:nvSpPr>
        <p:spPr>
          <a:xfrm>
            <a:off x="7408270" y="3306697"/>
            <a:ext cx="3391443" cy="27699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Strong negative evidence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2C6F11-FEE6-F1F9-6A9B-30C7CCC2D916}"/>
              </a:ext>
            </a:extLst>
          </p:cNvPr>
          <p:cNvSpPr txBox="1"/>
          <p:nvPr/>
        </p:nvSpPr>
        <p:spPr>
          <a:xfrm>
            <a:off x="7353844" y="4718665"/>
            <a:ext cx="4284618" cy="30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sz="1400" dirty="0"/>
              <a:t>Final Score = positive evidence - conflict penalties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801DD9-0817-10E7-71AE-03DAC6E62488}"/>
              </a:ext>
            </a:extLst>
          </p:cNvPr>
          <p:cNvSpPr txBox="1"/>
          <p:nvPr/>
        </p:nvSpPr>
        <p:spPr>
          <a:xfrm>
            <a:off x="7231924" y="481098"/>
            <a:ext cx="3391443" cy="33855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en-IN" sz="1600" dirty="0"/>
              <a:t>Suggested Model</a:t>
            </a:r>
          </a:p>
        </p:txBody>
      </p:sp>
    </p:spTree>
    <p:extLst>
      <p:ext uri="{BB962C8B-B14F-4D97-AF65-F5344CB8AC3E}">
        <p14:creationId xmlns:p14="http://schemas.microsoft.com/office/powerpoint/2010/main" val="1096952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470765-F00E-C91E-BFDF-DE4E9A383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379012"/>
              </p:ext>
            </p:extLst>
          </p:nvPr>
        </p:nvGraphicFramePr>
        <p:xfrm>
          <a:off x="1341118" y="848330"/>
          <a:ext cx="8974187" cy="5657728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081894">
                  <a:extLst>
                    <a:ext uri="{9D8B030D-6E8A-4147-A177-3AD203B41FA5}">
                      <a16:colId xmlns:a16="http://schemas.microsoft.com/office/drawing/2014/main" val="2881816799"/>
                    </a:ext>
                  </a:extLst>
                </a:gridCol>
                <a:gridCol w="2297431">
                  <a:extLst>
                    <a:ext uri="{9D8B030D-6E8A-4147-A177-3AD203B41FA5}">
                      <a16:colId xmlns:a16="http://schemas.microsoft.com/office/drawing/2014/main" val="2067892490"/>
                    </a:ext>
                  </a:extLst>
                </a:gridCol>
                <a:gridCol w="2297431">
                  <a:extLst>
                    <a:ext uri="{9D8B030D-6E8A-4147-A177-3AD203B41FA5}">
                      <a16:colId xmlns:a16="http://schemas.microsoft.com/office/drawing/2014/main" val="145892618"/>
                    </a:ext>
                  </a:extLst>
                </a:gridCol>
                <a:gridCol w="2297431">
                  <a:extLst>
                    <a:ext uri="{9D8B030D-6E8A-4147-A177-3AD203B41FA5}">
                      <a16:colId xmlns:a16="http://schemas.microsoft.com/office/drawing/2014/main" val="166151380"/>
                    </a:ext>
                  </a:extLst>
                </a:gridCol>
              </a:tblGrid>
              <a:tr h="559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Field in your form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Identity strength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 in matching?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Recommended approach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115654111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MR No. 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Very 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Exact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931194788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ABHA Number</a:t>
                      </a:r>
                      <a:endParaRPr lang="en-IN" sz="12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dirty="0"/>
                        <a:t>Very 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Exact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208680537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UHID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Very 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Exact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12605495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Contact Phone</a:t>
                      </a:r>
                      <a:endParaRPr lang="en-IN" sz="1200" dirty="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Exact + normalized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943584327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Full Name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Fuzzy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733658459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Date of Birth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Very 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Exact / partial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484845762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Gender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Medium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Exact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637411767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Email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High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Exact + fuzzy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949763733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Address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Medium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✅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Component-level fuzzy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572808041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Occupation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⚠️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Supporting evidence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2429052994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Education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Low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⚠️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Supporting evidence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634114201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Blood Group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Low/Medium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⚠️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Validation only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4097170402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Hypertension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Very Low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 not use for identity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829961037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Smoking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Very Low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Do not use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679117614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Diabetes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Very Low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❌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 not use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3896133427"/>
                  </a:ext>
                </a:extLst>
              </a:tr>
              <a:tr h="31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Renal Failure</a:t>
                      </a:r>
                      <a:endParaRPr lang="en-IN" sz="1200"/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/>
                        <a:t>Very Low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❌</a:t>
                      </a:r>
                    </a:p>
                  </a:txBody>
                  <a:tcPr marL="58802" marR="58802" marT="29401" marB="294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Do not use</a:t>
                      </a:r>
                    </a:p>
                  </a:txBody>
                  <a:tcPr marL="58802" marR="58802" marT="29401" marB="29401" anchor="ctr"/>
                </a:tc>
                <a:extLst>
                  <a:ext uri="{0D108BD9-81ED-4DB2-BD59-A6C34878D82A}">
                    <a16:rowId xmlns:a16="http://schemas.microsoft.com/office/drawing/2014/main" val="175892404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7EFFEAC-14A3-06CD-A383-031265FA13C3}"/>
              </a:ext>
            </a:extLst>
          </p:cNvPr>
          <p:cNvSpPr/>
          <p:nvPr/>
        </p:nvSpPr>
        <p:spPr>
          <a:xfrm>
            <a:off x="10541726" y="502920"/>
            <a:ext cx="1521823" cy="167204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Mr. No is entered by the Nurse? It can not be autogenerate – Varshitha to verify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83A36-0FFE-9B62-68C2-B505EDB587D3}"/>
              </a:ext>
            </a:extLst>
          </p:cNvPr>
          <p:cNvSpPr txBox="1"/>
          <p:nvPr/>
        </p:nvSpPr>
        <p:spPr>
          <a:xfrm>
            <a:off x="553538" y="133588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Field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872174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38557-1878-5177-897A-3621E256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622622-9D38-0D41-AC50-46482DA07B47}"/>
              </a:ext>
            </a:extLst>
          </p:cNvPr>
          <p:cNvSpPr txBox="1"/>
          <p:nvPr/>
        </p:nvSpPr>
        <p:spPr>
          <a:xfrm>
            <a:off x="553538" y="133588"/>
            <a:ext cx="6097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Database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762DB-2A4B-0D76-10FA-614199A6D6AD}"/>
              </a:ext>
            </a:extLst>
          </p:cNvPr>
          <p:cNvSpPr txBox="1"/>
          <p:nvPr/>
        </p:nvSpPr>
        <p:spPr>
          <a:xfrm>
            <a:off x="516797" y="1096482"/>
            <a:ext cx="385436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PATIENT</a:t>
            </a:r>
          </a:p>
          <a:p>
            <a:r>
              <a:rPr lang="en-IN" sz="1200" dirty="0"/>
              <a:t>──────────────────────────────</a:t>
            </a:r>
          </a:p>
          <a:p>
            <a:r>
              <a:rPr lang="en-IN" sz="1200" dirty="0" err="1"/>
              <a:t>patient_id</a:t>
            </a:r>
            <a:r>
              <a:rPr lang="en-IN" sz="1200" dirty="0"/>
              <a:t>             PK</a:t>
            </a:r>
          </a:p>
          <a:p>
            <a:r>
              <a:rPr lang="en-IN" sz="1200" dirty="0" err="1"/>
              <a:t>mr_no</a:t>
            </a:r>
            <a:r>
              <a:rPr lang="en-IN" sz="1200" dirty="0"/>
              <a:t>                  UNIQUE</a:t>
            </a:r>
          </a:p>
          <a:p>
            <a:r>
              <a:rPr lang="en-IN" sz="1200" dirty="0" err="1"/>
              <a:t>full_name</a:t>
            </a:r>
            <a:endParaRPr lang="en-IN" sz="1200" dirty="0"/>
          </a:p>
          <a:p>
            <a:r>
              <a:rPr lang="en-IN" sz="1200" dirty="0" err="1"/>
              <a:t>date_of_birth</a:t>
            </a:r>
            <a:endParaRPr lang="en-IN" sz="1200" dirty="0"/>
          </a:p>
          <a:p>
            <a:r>
              <a:rPr lang="en-IN" sz="1200" dirty="0"/>
              <a:t>gender</a:t>
            </a:r>
          </a:p>
          <a:p>
            <a:r>
              <a:rPr lang="en-IN" sz="1200" dirty="0"/>
              <a:t>phone</a:t>
            </a:r>
          </a:p>
          <a:p>
            <a:r>
              <a:rPr lang="en-IN" sz="1200" dirty="0"/>
              <a:t>email</a:t>
            </a:r>
          </a:p>
          <a:p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Address </a:t>
            </a:r>
            <a:r>
              <a:rPr lang="en-IN" sz="1200" dirty="0">
                <a:solidFill>
                  <a:schemeClr val="accent2">
                    <a:lumMod val="75000"/>
                  </a:schemeClr>
                </a:solidFill>
              </a:rPr>
              <a:t>(** break it down to address component</a:t>
            </a:r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)</a:t>
            </a:r>
          </a:p>
          <a:p>
            <a:r>
              <a:rPr lang="en-IN" sz="1200" dirty="0" err="1"/>
              <a:t>Uhid</a:t>
            </a:r>
            <a:r>
              <a:rPr lang="en-IN" sz="1200" dirty="0"/>
              <a:t>	Unique</a:t>
            </a:r>
          </a:p>
          <a:p>
            <a:r>
              <a:rPr lang="en-IN" sz="1200" dirty="0" err="1"/>
              <a:t>abha_number</a:t>
            </a:r>
            <a:r>
              <a:rPr lang="en-IN" sz="1200" dirty="0"/>
              <a:t> Unique	</a:t>
            </a:r>
          </a:p>
          <a:p>
            <a:r>
              <a:rPr lang="en-IN" sz="1200" dirty="0"/>
              <a:t>occupation</a:t>
            </a:r>
          </a:p>
          <a:p>
            <a:r>
              <a:rPr lang="en-IN" sz="1200" dirty="0"/>
              <a:t>education</a:t>
            </a:r>
          </a:p>
          <a:p>
            <a:r>
              <a:rPr lang="en-IN" sz="1200" dirty="0" err="1"/>
              <a:t>blood_group</a:t>
            </a:r>
            <a:endParaRPr lang="en-IN" sz="1200" dirty="0"/>
          </a:p>
          <a:p>
            <a:r>
              <a:rPr lang="en-IN" sz="1200" b="1" dirty="0" err="1">
                <a:solidFill>
                  <a:schemeClr val="accent2">
                    <a:lumMod val="75000"/>
                  </a:schemeClr>
                </a:solidFill>
              </a:rPr>
              <a:t>Patient_status_Master</a:t>
            </a:r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 (** New Field)</a:t>
            </a:r>
          </a:p>
          <a:p>
            <a:r>
              <a:rPr lang="en-IN" sz="1200" b="1" dirty="0" err="1">
                <a:solidFill>
                  <a:schemeClr val="accent2">
                    <a:lumMod val="75000"/>
                  </a:schemeClr>
                </a:solidFill>
              </a:rPr>
              <a:t>merged_into_patient_id</a:t>
            </a:r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IN" sz="1200" dirty="0">
                <a:solidFill>
                  <a:schemeClr val="accent2">
                    <a:lumMod val="75000"/>
                  </a:schemeClr>
                </a:solidFill>
              </a:rPr>
              <a:t>(** if Patient status is Merged)</a:t>
            </a:r>
          </a:p>
          <a:p>
            <a:r>
              <a:rPr lang="en-IN" sz="1200" dirty="0" err="1"/>
              <a:t>created_at</a:t>
            </a:r>
            <a:endParaRPr lang="en-IN" sz="1200" dirty="0"/>
          </a:p>
          <a:p>
            <a:r>
              <a:rPr lang="en-IN" sz="1200" dirty="0" err="1"/>
              <a:t>updated_at</a:t>
            </a: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91285-0479-1593-7216-EA4DEC0DC365}"/>
              </a:ext>
            </a:extLst>
          </p:cNvPr>
          <p:cNvSpPr txBox="1"/>
          <p:nvPr/>
        </p:nvSpPr>
        <p:spPr>
          <a:xfrm>
            <a:off x="553538" y="768923"/>
            <a:ext cx="2470513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Master Patient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DF8C1-F74C-DBE8-31B2-A7F970655791}"/>
              </a:ext>
            </a:extLst>
          </p:cNvPr>
          <p:cNvSpPr txBox="1"/>
          <p:nvPr/>
        </p:nvSpPr>
        <p:spPr>
          <a:xfrm>
            <a:off x="4371159" y="1076673"/>
            <a:ext cx="272306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PATIENT_IDENTITY_INDEX</a:t>
            </a:r>
          </a:p>
          <a:p>
            <a:r>
              <a:rPr lang="en-IN" sz="1100" dirty="0"/>
              <a:t>──────────────────────────────</a:t>
            </a:r>
          </a:p>
          <a:p>
            <a:r>
              <a:rPr lang="en-IN" sz="1100" dirty="0" err="1"/>
              <a:t>patient_id</a:t>
            </a:r>
            <a:r>
              <a:rPr lang="en-IN" sz="1100" dirty="0"/>
              <a:t>             PK/FK → </a:t>
            </a:r>
            <a:r>
              <a:rPr lang="en-IN" sz="1100" dirty="0" err="1"/>
              <a:t>patient.patient_id</a:t>
            </a:r>
            <a:endParaRPr lang="en-IN" sz="1100" dirty="0"/>
          </a:p>
          <a:p>
            <a:endParaRPr lang="en-IN" sz="500" dirty="0"/>
          </a:p>
          <a:p>
            <a:r>
              <a:rPr lang="en-IN" sz="1100" dirty="0" err="1"/>
              <a:t>normalized_name</a:t>
            </a:r>
            <a:endParaRPr lang="en-IN" sz="1100" dirty="0"/>
          </a:p>
          <a:p>
            <a:r>
              <a:rPr lang="en-IN" sz="1100" dirty="0" err="1"/>
              <a:t>name_phonetic</a:t>
            </a:r>
            <a:endParaRPr lang="en-IN" sz="1100" dirty="0"/>
          </a:p>
          <a:p>
            <a:r>
              <a:rPr lang="en-IN" sz="1100" dirty="0" err="1"/>
              <a:t>normalized_phone</a:t>
            </a:r>
            <a:endParaRPr lang="en-IN" sz="1100" dirty="0"/>
          </a:p>
          <a:p>
            <a:r>
              <a:rPr lang="en-IN" sz="1100" dirty="0" err="1"/>
              <a:t>phone_hash</a:t>
            </a:r>
            <a:endParaRPr lang="en-IN" sz="1100" dirty="0"/>
          </a:p>
          <a:p>
            <a:endParaRPr lang="en-IN" sz="500" dirty="0"/>
          </a:p>
          <a:p>
            <a:r>
              <a:rPr lang="en-IN" sz="1100" dirty="0" err="1"/>
              <a:t>normalized_email</a:t>
            </a:r>
            <a:endParaRPr lang="en-IN" sz="1100" dirty="0"/>
          </a:p>
          <a:p>
            <a:r>
              <a:rPr lang="en-IN" sz="1100" dirty="0" err="1"/>
              <a:t>email_hash</a:t>
            </a:r>
            <a:endParaRPr lang="en-IN" sz="1100" dirty="0"/>
          </a:p>
          <a:p>
            <a:endParaRPr lang="en-IN" sz="500" dirty="0"/>
          </a:p>
          <a:p>
            <a:r>
              <a:rPr lang="en-IN" sz="1100" dirty="0" err="1"/>
              <a:t>normalized_address</a:t>
            </a:r>
            <a:endParaRPr lang="en-IN" sz="1100" dirty="0"/>
          </a:p>
          <a:p>
            <a:endParaRPr lang="en-IN" sz="500" dirty="0"/>
          </a:p>
          <a:p>
            <a:r>
              <a:rPr lang="en-IN" sz="1100" dirty="0"/>
              <a:t>dob</a:t>
            </a:r>
          </a:p>
          <a:p>
            <a:r>
              <a:rPr lang="en-IN" sz="1100" dirty="0" err="1"/>
              <a:t>dob_year</a:t>
            </a:r>
            <a:endParaRPr lang="en-IN" sz="1100" dirty="0"/>
          </a:p>
          <a:p>
            <a:r>
              <a:rPr lang="en-IN" sz="1100" dirty="0"/>
              <a:t>gender</a:t>
            </a:r>
          </a:p>
          <a:p>
            <a:endParaRPr lang="en-IN" sz="1100" dirty="0"/>
          </a:p>
          <a:p>
            <a:r>
              <a:rPr lang="en-IN" sz="1100" dirty="0" err="1"/>
              <a:t>normalized_uhid</a:t>
            </a:r>
            <a:endParaRPr lang="en-IN" sz="1100" dirty="0"/>
          </a:p>
          <a:p>
            <a:r>
              <a:rPr lang="en-IN" sz="1100" dirty="0" err="1"/>
              <a:t>uhid_hash</a:t>
            </a:r>
            <a:endParaRPr lang="en-IN" sz="1100" dirty="0"/>
          </a:p>
          <a:p>
            <a:endParaRPr lang="en-IN" sz="1100" dirty="0"/>
          </a:p>
          <a:p>
            <a:r>
              <a:rPr lang="en-IN" sz="1100" dirty="0" err="1"/>
              <a:t>normalized_abha</a:t>
            </a:r>
            <a:endParaRPr lang="en-IN" sz="1100" dirty="0"/>
          </a:p>
          <a:p>
            <a:r>
              <a:rPr lang="en-IN" sz="1100" dirty="0" err="1"/>
              <a:t>abha_hash</a:t>
            </a:r>
            <a:endParaRPr lang="en-IN" sz="1100" dirty="0"/>
          </a:p>
          <a:p>
            <a:endParaRPr lang="en-IN" sz="500" dirty="0"/>
          </a:p>
          <a:p>
            <a:r>
              <a:rPr lang="en-IN" sz="1100" dirty="0"/>
              <a:t>dob</a:t>
            </a:r>
          </a:p>
          <a:p>
            <a:r>
              <a:rPr lang="en-IN" sz="1100" dirty="0" err="1"/>
              <a:t>dob_year</a:t>
            </a:r>
            <a:endParaRPr lang="en-IN" sz="1100" dirty="0"/>
          </a:p>
          <a:p>
            <a:r>
              <a:rPr lang="en-IN" sz="1100" dirty="0"/>
              <a:t>gender</a:t>
            </a:r>
          </a:p>
          <a:p>
            <a:endParaRPr lang="en-IN" sz="500" dirty="0"/>
          </a:p>
          <a:p>
            <a:r>
              <a:rPr lang="en-IN" sz="1100" dirty="0" err="1"/>
              <a:t>pincode</a:t>
            </a:r>
            <a:endParaRPr lang="en-IN" sz="1100" dirty="0"/>
          </a:p>
          <a:p>
            <a:r>
              <a:rPr lang="en-IN" sz="1100" dirty="0" err="1"/>
              <a:t>normalize_address</a:t>
            </a:r>
            <a:endParaRPr lang="en-IN" sz="1100" dirty="0"/>
          </a:p>
          <a:p>
            <a:r>
              <a:rPr lang="en-IN" sz="1100" dirty="0"/>
              <a:t>District</a:t>
            </a:r>
          </a:p>
          <a:p>
            <a:r>
              <a:rPr lang="en-IN" sz="1100" dirty="0"/>
              <a:t>Pin code</a:t>
            </a:r>
          </a:p>
          <a:p>
            <a:endParaRPr lang="en-IN" sz="500" dirty="0"/>
          </a:p>
          <a:p>
            <a:endParaRPr lang="en-IN" sz="100" dirty="0"/>
          </a:p>
          <a:p>
            <a:r>
              <a:rPr lang="en-IN" sz="1100" dirty="0" err="1"/>
              <a:t>created_at</a:t>
            </a:r>
            <a:endParaRPr lang="en-IN" sz="1100" dirty="0"/>
          </a:p>
          <a:p>
            <a:r>
              <a:rPr lang="en-IN" sz="1100" dirty="0" err="1"/>
              <a:t>updated_at</a:t>
            </a:r>
            <a:endParaRPr lang="en-IN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404BB8-B76D-28D7-6E44-57256BF15F1D}"/>
              </a:ext>
            </a:extLst>
          </p:cNvPr>
          <p:cNvSpPr txBox="1"/>
          <p:nvPr/>
        </p:nvSpPr>
        <p:spPr>
          <a:xfrm>
            <a:off x="4463143" y="744042"/>
            <a:ext cx="2470513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Matching/search table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71B00F-E14B-B4BC-5DEA-E9C39ED07CE2}"/>
              </a:ext>
            </a:extLst>
          </p:cNvPr>
          <p:cNvSpPr txBox="1"/>
          <p:nvPr/>
        </p:nvSpPr>
        <p:spPr>
          <a:xfrm>
            <a:off x="7641226" y="974813"/>
            <a:ext cx="4162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/>
              <a:t>patient_match_audit</a:t>
            </a:r>
            <a:endParaRPr lang="en-IN" sz="1200" dirty="0"/>
          </a:p>
          <a:p>
            <a:r>
              <a:rPr lang="en-IN" sz="1200" dirty="0"/>
              <a:t>────────────────────────────────────</a:t>
            </a:r>
          </a:p>
          <a:p>
            <a:r>
              <a:rPr lang="en-IN" sz="1200" dirty="0" err="1"/>
              <a:t>audit_id</a:t>
            </a:r>
            <a:r>
              <a:rPr lang="en-IN" sz="1200" dirty="0"/>
              <a:t>		Autogenerate</a:t>
            </a:r>
          </a:p>
          <a:p>
            <a:r>
              <a:rPr lang="en-IN" sz="1200" dirty="0" err="1"/>
              <a:t>patient_id</a:t>
            </a:r>
            <a:r>
              <a:rPr lang="en-IN" sz="1200" dirty="0"/>
              <a:t>		PK/FK</a:t>
            </a:r>
          </a:p>
          <a:p>
            <a:r>
              <a:rPr lang="en-IN" sz="1200" dirty="0" err="1"/>
              <a:t>candidate_patient_id</a:t>
            </a:r>
            <a:r>
              <a:rPr lang="en-IN" sz="1200" dirty="0"/>
              <a:t>	PK</a:t>
            </a:r>
          </a:p>
          <a:p>
            <a:endParaRPr lang="en-IN" sz="1200" dirty="0"/>
          </a:p>
          <a:p>
            <a:r>
              <a:rPr lang="en-IN" sz="1200" dirty="0"/>
              <a:t>action</a:t>
            </a:r>
          </a:p>
          <a:p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System Decision</a:t>
            </a:r>
            <a:r>
              <a:rPr lang="en-IN" sz="1200" dirty="0">
                <a:solidFill>
                  <a:schemeClr val="accent2">
                    <a:lumMod val="75000"/>
                  </a:schemeClr>
                </a:solidFill>
              </a:rPr>
              <a:t> (**Explained in Decision value master set)</a:t>
            </a:r>
          </a:p>
          <a:p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User Decision </a:t>
            </a:r>
            <a:r>
              <a:rPr lang="en-IN" sz="1200" dirty="0">
                <a:solidFill>
                  <a:schemeClr val="accent2">
                    <a:lumMod val="75000"/>
                  </a:schemeClr>
                </a:solidFill>
              </a:rPr>
              <a:t>(**Explained in Decision value master set)</a:t>
            </a:r>
            <a:endParaRPr lang="en-IN" sz="12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1200" dirty="0" err="1"/>
              <a:t>overall_score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 err="1"/>
              <a:t>field_scores</a:t>
            </a:r>
            <a:endParaRPr lang="en-IN" sz="1200" dirty="0"/>
          </a:p>
          <a:p>
            <a:r>
              <a:rPr lang="en-IN" sz="1200" dirty="0"/>
              <a:t>reasons</a:t>
            </a:r>
          </a:p>
          <a:p>
            <a:endParaRPr lang="en-IN" sz="1200" dirty="0"/>
          </a:p>
          <a:p>
            <a:r>
              <a:rPr lang="en-IN" sz="1200" dirty="0" err="1"/>
              <a:t>algorithm_version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 err="1"/>
              <a:t>created_by</a:t>
            </a:r>
            <a:endParaRPr lang="en-IN" sz="1200" dirty="0"/>
          </a:p>
          <a:p>
            <a:r>
              <a:rPr lang="en-IN" sz="1200" dirty="0" err="1"/>
              <a:t>created_at</a:t>
            </a:r>
            <a:endParaRPr lang="en-IN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46244A-5881-18B9-960B-0DA6127B6FE7}"/>
              </a:ext>
            </a:extLst>
          </p:cNvPr>
          <p:cNvSpPr txBox="1"/>
          <p:nvPr/>
        </p:nvSpPr>
        <p:spPr>
          <a:xfrm>
            <a:off x="7820841" y="718363"/>
            <a:ext cx="3451859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 err="1"/>
              <a:t>patient_match_audit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01752A-B136-03E7-58CC-1C1EAF64AA2F}"/>
              </a:ext>
            </a:extLst>
          </p:cNvPr>
          <p:cNvSpPr txBox="1"/>
          <p:nvPr/>
        </p:nvSpPr>
        <p:spPr>
          <a:xfrm>
            <a:off x="553538" y="4822470"/>
            <a:ext cx="1836965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200" dirty="0"/>
              <a:t>Break Address Field to:</a:t>
            </a:r>
          </a:p>
          <a:p>
            <a:endParaRPr lang="en-IN" sz="1200" dirty="0"/>
          </a:p>
          <a:p>
            <a:r>
              <a:rPr lang="en-IN" sz="1200" dirty="0"/>
              <a:t>House / Flat No</a:t>
            </a:r>
          </a:p>
          <a:p>
            <a:r>
              <a:rPr lang="en-IN" sz="1200" dirty="0"/>
              <a:t>Street / Locality</a:t>
            </a:r>
          </a:p>
          <a:p>
            <a:r>
              <a:rPr lang="en-IN" sz="1200" dirty="0"/>
              <a:t>Village / Town</a:t>
            </a:r>
          </a:p>
          <a:p>
            <a:r>
              <a:rPr lang="en-IN" sz="1200" dirty="0"/>
              <a:t>Block</a:t>
            </a:r>
          </a:p>
          <a:p>
            <a:r>
              <a:rPr lang="en-IN" sz="1200" dirty="0"/>
              <a:t>District</a:t>
            </a:r>
          </a:p>
          <a:p>
            <a:r>
              <a:rPr lang="en-IN" sz="1200" dirty="0"/>
              <a:t>State</a:t>
            </a:r>
          </a:p>
          <a:p>
            <a:r>
              <a:rPr lang="en-IN" sz="1200" dirty="0" err="1"/>
              <a:t>Pincode</a:t>
            </a:r>
            <a:endParaRPr lang="en-IN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8DE33D-3971-710F-9DDB-6DF25412E014}"/>
              </a:ext>
            </a:extLst>
          </p:cNvPr>
          <p:cNvSpPr txBox="1"/>
          <p:nvPr/>
        </p:nvSpPr>
        <p:spPr>
          <a:xfrm>
            <a:off x="7820841" y="4504785"/>
            <a:ext cx="4122965" cy="17543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IN" dirty="0"/>
              <a:t>                  PATIENT</a:t>
            </a:r>
          </a:p>
          <a:p>
            <a:r>
              <a:rPr lang="en-IN" dirty="0"/>
              <a:t>                           │</a:t>
            </a:r>
          </a:p>
          <a:p>
            <a:r>
              <a:rPr lang="en-IN" dirty="0"/>
              <a:t>                           │ </a:t>
            </a:r>
            <a:r>
              <a:rPr lang="en-IN" dirty="0" err="1"/>
              <a:t>patient_id</a:t>
            </a:r>
            <a:endParaRPr lang="en-IN" dirty="0"/>
          </a:p>
          <a:p>
            <a:r>
              <a:rPr lang="en-IN" dirty="0"/>
              <a:t>                           ▼</a:t>
            </a:r>
          </a:p>
          <a:p>
            <a:r>
              <a:rPr lang="en-IN" dirty="0"/>
              <a:t>                 PATIENT_IDENTITY_INDEX</a:t>
            </a:r>
          </a:p>
          <a:p>
            <a:r>
              <a:rPr lang="en-IN" dirty="0"/>
              <a:t>                           │</a:t>
            </a:r>
          </a:p>
          <a:p>
            <a:r>
              <a:rPr lang="en-IN" dirty="0"/>
              <a:t>                           │ </a:t>
            </a:r>
            <a:r>
              <a:rPr lang="en-IN" dirty="0" err="1"/>
              <a:t>candidate_patient_id</a:t>
            </a:r>
            <a:endParaRPr lang="en-IN" dirty="0"/>
          </a:p>
          <a:p>
            <a:r>
              <a:rPr lang="en-IN" dirty="0"/>
              <a:t>                           ▼</a:t>
            </a:r>
          </a:p>
          <a:p>
            <a:r>
              <a:rPr lang="en-IN" dirty="0"/>
              <a:t>                  PATIENT_MATCH_AUDIT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1781D8-517B-DE12-E6E6-C4E5EACFDEFA}"/>
              </a:ext>
            </a:extLst>
          </p:cNvPr>
          <p:cNvSpPr txBox="1"/>
          <p:nvPr/>
        </p:nvSpPr>
        <p:spPr>
          <a:xfrm>
            <a:off x="2512287" y="4979951"/>
            <a:ext cx="1737088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IN" b="1" dirty="0" err="1"/>
              <a:t>Patient_status_Master</a:t>
            </a:r>
            <a:endParaRPr lang="en-IN" b="1" dirty="0"/>
          </a:p>
          <a:p>
            <a:r>
              <a:rPr lang="en-IN" b="1" dirty="0"/>
              <a:t> </a:t>
            </a:r>
          </a:p>
          <a:p>
            <a:r>
              <a:rPr lang="en-IN" dirty="0"/>
              <a:t>ACTIVE</a:t>
            </a:r>
          </a:p>
          <a:p>
            <a:r>
              <a:rPr lang="en-IN" dirty="0"/>
              <a:t>INACTIVE</a:t>
            </a:r>
          </a:p>
          <a:p>
            <a:r>
              <a:rPr lang="en-IN" dirty="0"/>
              <a:t>MERGED</a:t>
            </a:r>
          </a:p>
          <a:p>
            <a:r>
              <a:rPr lang="en-IN" dirty="0"/>
              <a:t>DECEASED</a:t>
            </a:r>
          </a:p>
          <a:p>
            <a:r>
              <a:rPr lang="en-IN" dirty="0"/>
              <a:t>DUPLICATE</a:t>
            </a:r>
          </a:p>
        </p:txBody>
      </p:sp>
    </p:spTree>
    <p:extLst>
      <p:ext uri="{BB962C8B-B14F-4D97-AF65-F5344CB8AC3E}">
        <p14:creationId xmlns:p14="http://schemas.microsoft.com/office/powerpoint/2010/main" val="17515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D85F21-E443-2228-EADF-E2A73F92724C}"/>
              </a:ext>
            </a:extLst>
          </p:cNvPr>
          <p:cNvSpPr txBox="1"/>
          <p:nvPr/>
        </p:nvSpPr>
        <p:spPr>
          <a:xfrm>
            <a:off x="553538" y="133588"/>
            <a:ext cx="6097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Data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3DC7B9-BC6C-2DD1-C1C1-DE0BBF508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241482"/>
              </p:ext>
            </p:extLst>
          </p:nvPr>
        </p:nvGraphicFramePr>
        <p:xfrm>
          <a:off x="326571" y="1133997"/>
          <a:ext cx="9353008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9126">
                  <a:extLst>
                    <a:ext uri="{9D8B030D-6E8A-4147-A177-3AD203B41FA5}">
                      <a16:colId xmlns:a16="http://schemas.microsoft.com/office/drawing/2014/main" val="1424278954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510229632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482608447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1211970945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2822908041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3606725097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3608399945"/>
                    </a:ext>
                  </a:extLst>
                </a:gridCol>
                <a:gridCol w="1169126">
                  <a:extLst>
                    <a:ext uri="{9D8B030D-6E8A-4147-A177-3AD203B41FA5}">
                      <a16:colId xmlns:a16="http://schemas.microsoft.com/office/drawing/2014/main" val="2786523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mr_no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full_name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ABHA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9166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MR000001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Ramesh Chandra Malhotra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1966-01-01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+91 9876543210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12345678901234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5195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MR000002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Sunita Devi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1972-06-15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+91 9988776655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UHID123457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22345678901234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901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MR000003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Mohammad Imran Khan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1980-11-20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+91 9123456789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UHID123458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2592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4717A52-9954-BB82-E010-DA94297A5A36}"/>
              </a:ext>
            </a:extLst>
          </p:cNvPr>
          <p:cNvSpPr txBox="1"/>
          <p:nvPr/>
        </p:nvSpPr>
        <p:spPr>
          <a:xfrm>
            <a:off x="701040" y="787680"/>
            <a:ext cx="3561063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IN" b="1" dirty="0"/>
              <a:t>Patient Master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68D63-E743-911F-82EF-45C9633E0A15}"/>
              </a:ext>
            </a:extLst>
          </p:cNvPr>
          <p:cNvSpPr txBox="1"/>
          <p:nvPr/>
        </p:nvSpPr>
        <p:spPr>
          <a:xfrm>
            <a:off x="6466115" y="553877"/>
            <a:ext cx="325952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1200" dirty="0"/>
              <a:t>Actual patient information </a:t>
            </a:r>
          </a:p>
          <a:p>
            <a:r>
              <a:rPr lang="en-IN" sz="1200" dirty="0"/>
              <a:t>source-of-truth table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47B124-3ECE-64E3-8DB2-F92C54590D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277135"/>
              </p:ext>
            </p:extLst>
          </p:nvPr>
        </p:nvGraphicFramePr>
        <p:xfrm>
          <a:off x="326571" y="3012807"/>
          <a:ext cx="9353007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39223">
                  <a:extLst>
                    <a:ext uri="{9D8B030D-6E8A-4147-A177-3AD203B41FA5}">
                      <a16:colId xmlns:a16="http://schemas.microsoft.com/office/drawing/2014/main" val="484610347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200527391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2224427176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199399151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1725161004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847972959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232537717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3085875188"/>
                    </a:ext>
                  </a:extLst>
                </a:gridCol>
                <a:gridCol w="1039223">
                  <a:extLst>
                    <a:ext uri="{9D8B030D-6E8A-4147-A177-3AD203B41FA5}">
                      <a16:colId xmlns:a16="http://schemas.microsoft.com/office/drawing/2014/main" val="127377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patient_id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normalized_name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normalized_phone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normalized_email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normalized_uhid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normalized_abha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pincode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43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ramesh</a:t>
                      </a:r>
                      <a:r>
                        <a:rPr lang="en-IN" sz="1000" dirty="0"/>
                        <a:t> </a:t>
                      </a:r>
                      <a:r>
                        <a:rPr lang="en-IN" sz="1000" dirty="0" err="1"/>
                        <a:t>chandra</a:t>
                      </a:r>
                      <a:r>
                        <a:rPr lang="en-IN" sz="1000" dirty="0"/>
                        <a:t> </a:t>
                      </a:r>
                      <a:r>
                        <a:rPr lang="en-IN" sz="1000" dirty="0" err="1"/>
                        <a:t>malhotra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+919876543210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2"/>
                        </a:rPr>
                        <a:t>ramesh.malhotra@gmail.com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UHID123456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12345678901234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1966-01-01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226001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120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sunita devi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+919988776655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hlinkClick r:id="rId3"/>
                        </a:rPr>
                        <a:t>sunita.devi@gmail.com</a:t>
                      </a:r>
                      <a:endParaRPr lang="en-IN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UHID123457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22345678901234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1972-06-15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226024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946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mohammad imran khan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+919123456789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UHID123458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1980-11-20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225001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46334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646066B-C520-DB21-4CAA-4DB6E3F0E919}"/>
              </a:ext>
            </a:extLst>
          </p:cNvPr>
          <p:cNvSpPr txBox="1"/>
          <p:nvPr/>
        </p:nvSpPr>
        <p:spPr>
          <a:xfrm>
            <a:off x="701040" y="2645126"/>
            <a:ext cx="3446417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 err="1"/>
              <a:t>patient_identity_index</a:t>
            </a:r>
            <a:r>
              <a:rPr lang="en-IN" dirty="0"/>
              <a:t> — matching version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29BED3-9E70-88D0-0C26-66E7038E4492}"/>
              </a:ext>
            </a:extLst>
          </p:cNvPr>
          <p:cNvSpPr txBox="1"/>
          <p:nvPr/>
        </p:nvSpPr>
        <p:spPr>
          <a:xfrm>
            <a:off x="5047335" y="2546852"/>
            <a:ext cx="6097088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</a:lstStyle>
          <a:p>
            <a:r>
              <a:rPr lang="en-IN" sz="1200" dirty="0"/>
              <a:t>Normalized/searchable identity attributes </a:t>
            </a:r>
          </a:p>
          <a:p>
            <a:r>
              <a:rPr lang="en-IN" sz="1200" dirty="0"/>
              <a:t>The same patients exist here, but the values are transformed specifically for matching.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7747E09-75F8-DAFF-B3CD-48FD08935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360556"/>
              </p:ext>
            </p:extLst>
          </p:nvPr>
        </p:nvGraphicFramePr>
        <p:xfrm>
          <a:off x="326571" y="5280236"/>
          <a:ext cx="935301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8835">
                  <a:extLst>
                    <a:ext uri="{9D8B030D-6E8A-4147-A177-3AD203B41FA5}">
                      <a16:colId xmlns:a16="http://schemas.microsoft.com/office/drawing/2014/main" val="2523517890"/>
                    </a:ext>
                  </a:extLst>
                </a:gridCol>
                <a:gridCol w="1558835">
                  <a:extLst>
                    <a:ext uri="{9D8B030D-6E8A-4147-A177-3AD203B41FA5}">
                      <a16:colId xmlns:a16="http://schemas.microsoft.com/office/drawing/2014/main" val="2582513268"/>
                    </a:ext>
                  </a:extLst>
                </a:gridCol>
                <a:gridCol w="1558835">
                  <a:extLst>
                    <a:ext uri="{9D8B030D-6E8A-4147-A177-3AD203B41FA5}">
                      <a16:colId xmlns:a16="http://schemas.microsoft.com/office/drawing/2014/main" val="3699677966"/>
                    </a:ext>
                  </a:extLst>
                </a:gridCol>
                <a:gridCol w="1558835">
                  <a:extLst>
                    <a:ext uri="{9D8B030D-6E8A-4147-A177-3AD203B41FA5}">
                      <a16:colId xmlns:a16="http://schemas.microsoft.com/office/drawing/2014/main" val="1922262015"/>
                    </a:ext>
                  </a:extLst>
                </a:gridCol>
                <a:gridCol w="1558835">
                  <a:extLst>
                    <a:ext uri="{9D8B030D-6E8A-4147-A177-3AD203B41FA5}">
                      <a16:colId xmlns:a16="http://schemas.microsoft.com/office/drawing/2014/main" val="3639780429"/>
                    </a:ext>
                  </a:extLst>
                </a:gridCol>
                <a:gridCol w="1558835">
                  <a:extLst>
                    <a:ext uri="{9D8B030D-6E8A-4147-A177-3AD203B41FA5}">
                      <a16:colId xmlns:a16="http://schemas.microsoft.com/office/drawing/2014/main" val="728929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/>
                        <a:t>audit_id</a:t>
                      </a:r>
                      <a:endParaRPr lang="en-IN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candidate_patient_id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created_by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055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A000001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HIGH_CONFIDENCE_MATCH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97.4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nurse_001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906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A000002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P000002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VERIFY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REVIEW_REQUIRED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88.6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nurse_002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8430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A000003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P000003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CONFIRM_MATCH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CONFIRMED_SAME_PATIENT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/>
                        <a:t>96.1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nurse_003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62399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F7E36DE-E92B-8E5C-E3D5-DA82A36BAAFC}"/>
              </a:ext>
            </a:extLst>
          </p:cNvPr>
          <p:cNvSpPr txBox="1"/>
          <p:nvPr/>
        </p:nvSpPr>
        <p:spPr>
          <a:xfrm>
            <a:off x="785949" y="4864671"/>
            <a:ext cx="4138748" cy="276999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 err="1"/>
              <a:t>patient_match_audit</a:t>
            </a:r>
            <a:r>
              <a:rPr lang="en-IN" dirty="0"/>
              <a:t> — what happened during matching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C62060-930D-765A-1919-E354351CC712}"/>
              </a:ext>
            </a:extLst>
          </p:cNvPr>
          <p:cNvSpPr txBox="1"/>
          <p:nvPr/>
        </p:nvSpPr>
        <p:spPr>
          <a:xfrm>
            <a:off x="5204461" y="4824309"/>
            <a:ext cx="4521182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r>
              <a:rPr lang="en-IN" dirty="0"/>
              <a:t>History of matching decisions </a:t>
            </a:r>
          </a:p>
          <a:p>
            <a:r>
              <a:rPr lang="en-IN" dirty="0"/>
              <a:t>This table records the identity-resolution event.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DD8A95-B9F8-21A7-E5F0-9AD3CA3CD4BD}"/>
              </a:ext>
            </a:extLst>
          </p:cNvPr>
          <p:cNvSpPr txBox="1"/>
          <p:nvPr/>
        </p:nvSpPr>
        <p:spPr>
          <a:xfrm>
            <a:off x="9725643" y="1187843"/>
            <a:ext cx="23820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/>
              <a:t>patients.patient_id</a:t>
            </a:r>
            <a:r>
              <a:rPr lang="en-IN" sz="1200" dirty="0"/>
              <a:t> </a:t>
            </a:r>
          </a:p>
          <a:p>
            <a:r>
              <a:rPr lang="en-IN" sz="1200" dirty="0"/>
              <a:t>│ </a:t>
            </a:r>
          </a:p>
          <a:p>
            <a:r>
              <a:rPr lang="en-IN" sz="1200" dirty="0"/>
              <a:t>│ 1 : 1 </a:t>
            </a:r>
          </a:p>
          <a:p>
            <a:r>
              <a:rPr lang="en-IN" sz="1200" dirty="0"/>
              <a:t>▼ </a:t>
            </a:r>
          </a:p>
          <a:p>
            <a:r>
              <a:rPr lang="en-IN" sz="1200" dirty="0" err="1"/>
              <a:t>patient_identity_index.patient_id</a:t>
            </a:r>
            <a:endParaRPr lang="en-IN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66F9B7-69DA-231B-E2E7-A3FF04F895EA}"/>
              </a:ext>
            </a:extLst>
          </p:cNvPr>
          <p:cNvSpPr txBox="1"/>
          <p:nvPr/>
        </p:nvSpPr>
        <p:spPr>
          <a:xfrm>
            <a:off x="9679578" y="3373655"/>
            <a:ext cx="257338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/>
              <a:t>patients.patient_id</a:t>
            </a:r>
            <a:endParaRPr lang="en-IN" sz="1200" dirty="0"/>
          </a:p>
          <a:p>
            <a:r>
              <a:rPr lang="en-IN" sz="1200" dirty="0"/>
              <a:t>        │</a:t>
            </a:r>
          </a:p>
          <a:p>
            <a:r>
              <a:rPr lang="en-IN" sz="1200" dirty="0"/>
              <a:t>        │ 1 : N</a:t>
            </a:r>
          </a:p>
          <a:p>
            <a:r>
              <a:rPr lang="en-IN" sz="1200" dirty="0"/>
              <a:t>        ▼</a:t>
            </a:r>
          </a:p>
          <a:p>
            <a:r>
              <a:rPr lang="en-IN" sz="1200" dirty="0" err="1"/>
              <a:t>patient_match_audit.patient_id</a:t>
            </a:r>
            <a:endParaRPr lang="en-IN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4FD845-BF15-E6BC-0076-9D8ED0E605CE}"/>
              </a:ext>
            </a:extLst>
          </p:cNvPr>
          <p:cNvSpPr txBox="1"/>
          <p:nvPr/>
        </p:nvSpPr>
        <p:spPr>
          <a:xfrm>
            <a:off x="9679579" y="5412484"/>
            <a:ext cx="24281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 err="1"/>
              <a:t>patients.patient_id</a:t>
            </a:r>
            <a:endParaRPr lang="en-IN" sz="1200" dirty="0"/>
          </a:p>
          <a:p>
            <a:r>
              <a:rPr lang="en-IN" sz="1200" dirty="0"/>
              <a:t>        │</a:t>
            </a:r>
          </a:p>
          <a:p>
            <a:r>
              <a:rPr lang="en-IN" sz="1200" dirty="0"/>
              <a:t>        │ 1 : N</a:t>
            </a:r>
          </a:p>
          <a:p>
            <a:r>
              <a:rPr lang="en-IN" sz="1200" dirty="0"/>
              <a:t>        ▼</a:t>
            </a:r>
          </a:p>
          <a:p>
            <a:r>
              <a:rPr lang="en-IN" sz="1200" dirty="0" err="1"/>
              <a:t>patient_match_audit.patient_id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517984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26A98B-640D-F5C0-9FE2-543E85982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206521"/>
              </p:ext>
            </p:extLst>
          </p:nvPr>
        </p:nvGraphicFramePr>
        <p:xfrm>
          <a:off x="600891" y="1865517"/>
          <a:ext cx="4848498" cy="2190498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424249">
                  <a:extLst>
                    <a:ext uri="{9D8B030D-6E8A-4147-A177-3AD203B41FA5}">
                      <a16:colId xmlns:a16="http://schemas.microsoft.com/office/drawing/2014/main" val="3665300249"/>
                    </a:ext>
                  </a:extLst>
                </a:gridCol>
                <a:gridCol w="2424249">
                  <a:extLst>
                    <a:ext uri="{9D8B030D-6E8A-4147-A177-3AD203B41FA5}">
                      <a16:colId xmlns:a16="http://schemas.microsoft.com/office/drawing/2014/main" val="4030191420"/>
                    </a:ext>
                  </a:extLst>
                </a:gridCol>
              </a:tblGrid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patient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patient_identity_index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512599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Source of truth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Search/matching optimization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9916761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Human-readable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Normalized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351266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Clinical/admin application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Duplicate detection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524781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Original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Transformed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2942140"/>
                  </a:ext>
                </a:extLst>
              </a:tr>
              <a:tr h="365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Used by registry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Used by matching engine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0932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957F84-0FBF-7307-8678-28B1ABFF9A8F}"/>
              </a:ext>
            </a:extLst>
          </p:cNvPr>
          <p:cNvSpPr txBox="1"/>
          <p:nvPr/>
        </p:nvSpPr>
        <p:spPr>
          <a:xfrm>
            <a:off x="6096000" y="357226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Matching hierarchy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6973D8-78B5-D46B-7679-910411269530}"/>
              </a:ext>
            </a:extLst>
          </p:cNvPr>
          <p:cNvSpPr txBox="1"/>
          <p:nvPr/>
        </p:nvSpPr>
        <p:spPr>
          <a:xfrm>
            <a:off x="6096000" y="987814"/>
            <a:ext cx="380292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LEVEL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Mr. 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ABHA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UHID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↓</a:t>
            </a:r>
          </a:p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LEVEL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Phone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Email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↓</a:t>
            </a:r>
          </a:p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LEVEL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Gender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↓</a:t>
            </a:r>
          </a:p>
          <a:p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LEVEL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Address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↓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dirty="0">
                <a:solidFill>
                  <a:schemeClr val="accent2">
                    <a:lumMod val="75000"/>
                  </a:schemeClr>
                </a:solidFill>
                <a:latin typeface="Aptos" panose="02110004020202020204"/>
              </a:rPr>
              <a:t>FINAL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Weighted confidence score</a:t>
            </a:r>
          </a:p>
        </p:txBody>
      </p:sp>
    </p:spTree>
    <p:extLst>
      <p:ext uri="{BB962C8B-B14F-4D97-AF65-F5344CB8AC3E}">
        <p14:creationId xmlns:p14="http://schemas.microsoft.com/office/powerpoint/2010/main" val="26499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875AA8-0D70-5DF2-10A7-6AEC4BA4F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384774"/>
              </p:ext>
            </p:extLst>
          </p:nvPr>
        </p:nvGraphicFramePr>
        <p:xfrm>
          <a:off x="553539" y="899618"/>
          <a:ext cx="5279028" cy="503858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759676">
                  <a:extLst>
                    <a:ext uri="{9D8B030D-6E8A-4147-A177-3AD203B41FA5}">
                      <a16:colId xmlns:a16="http://schemas.microsoft.com/office/drawing/2014/main" val="3105194048"/>
                    </a:ext>
                  </a:extLst>
                </a:gridCol>
                <a:gridCol w="1759676">
                  <a:extLst>
                    <a:ext uri="{9D8B030D-6E8A-4147-A177-3AD203B41FA5}">
                      <a16:colId xmlns:a16="http://schemas.microsoft.com/office/drawing/2014/main" val="2022631595"/>
                    </a:ext>
                  </a:extLst>
                </a:gridCol>
                <a:gridCol w="1759676">
                  <a:extLst>
                    <a:ext uri="{9D8B030D-6E8A-4147-A177-3AD203B41FA5}">
                      <a16:colId xmlns:a16="http://schemas.microsoft.com/office/drawing/2014/main" val="528392557"/>
                    </a:ext>
                  </a:extLst>
                </a:gridCol>
              </a:tblGrid>
              <a:tr h="208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Decision value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Meaning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When used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744080693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HIGH_CONFIDENCE_MATCH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Strong evidence that the candidate is the same patient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Score ≥ 95%, subject to conflict rules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445046768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REVIEW_REQUIRED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Possible match, but human verification is required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Score 80–94.99%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963398412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NO_LIKELY_MATCH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 sufficiently strong existing patient found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Score &lt; 80%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78722153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CONFIRMED_SAME_PATIENT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 confirms candidate is the same patient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Nurse/authorized user selects </a:t>
                      </a:r>
                      <a:r>
                        <a:rPr lang="en-IN" sz="1200" b="1"/>
                        <a:t>Same Patient</a:t>
                      </a:r>
                      <a:endParaRPr lang="en-IN" sz="120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825518885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CONFIRMED_DIFFERENT_PATIENT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 confirms candidate is not the same patient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Nurse/authorized user selects </a:t>
                      </a:r>
                      <a:r>
                        <a:rPr lang="en-IN" sz="1200" b="1"/>
                        <a:t>Different Patient</a:t>
                      </a:r>
                      <a:endParaRPr lang="en-IN" sz="1200"/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165468758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MATCH_REJECTED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Candidate was explicitly rejected during review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 rejects a particular candidate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504205090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MATCH_NOT_REVIEWED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Candidate was generated but user has not reviewed it yet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Workflow remains pending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61960136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MANUAL_MATCH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Authorized user manually selects an existing patient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Fuzzy engine did not produce a satisfactory match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4218467933"/>
                  </a:ext>
                </a:extLst>
              </a:tr>
              <a:tr h="36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ERROR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Matching process could not be completed</a:t>
                      </a:r>
                    </a:p>
                  </a:txBody>
                  <a:tcPr marL="64945" marR="64945" marT="32473" marB="3247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Technical/data-processing error</a:t>
                      </a:r>
                    </a:p>
                  </a:txBody>
                  <a:tcPr marL="64945" marR="64945" marT="32473" marB="32473" anchor="ctr"/>
                </a:tc>
                <a:extLst>
                  <a:ext uri="{0D108BD9-81ED-4DB2-BD59-A6C34878D82A}">
                    <a16:rowId xmlns:a16="http://schemas.microsoft.com/office/drawing/2014/main" val="389814699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B4A7BD-1B5F-AB47-3F79-D5702545D26A}"/>
              </a:ext>
            </a:extLst>
          </p:cNvPr>
          <p:cNvSpPr txBox="1"/>
          <p:nvPr/>
        </p:nvSpPr>
        <p:spPr>
          <a:xfrm>
            <a:off x="553538" y="133588"/>
            <a:ext cx="6097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Decision Value Master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68CE31-5134-7682-0976-DC9FE6680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691029"/>
              </p:ext>
            </p:extLst>
          </p:nvPr>
        </p:nvGraphicFramePr>
        <p:xfrm>
          <a:off x="6244045" y="1378132"/>
          <a:ext cx="5697582" cy="4317273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899194">
                  <a:extLst>
                    <a:ext uri="{9D8B030D-6E8A-4147-A177-3AD203B41FA5}">
                      <a16:colId xmlns:a16="http://schemas.microsoft.com/office/drawing/2014/main" val="2027226574"/>
                    </a:ext>
                  </a:extLst>
                </a:gridCol>
                <a:gridCol w="1899194">
                  <a:extLst>
                    <a:ext uri="{9D8B030D-6E8A-4147-A177-3AD203B41FA5}">
                      <a16:colId xmlns:a16="http://schemas.microsoft.com/office/drawing/2014/main" val="754775668"/>
                    </a:ext>
                  </a:extLst>
                </a:gridCol>
                <a:gridCol w="1899194">
                  <a:extLst>
                    <a:ext uri="{9D8B030D-6E8A-4147-A177-3AD203B41FA5}">
                      <a16:colId xmlns:a16="http://schemas.microsoft.com/office/drawing/2014/main" val="4046970294"/>
                    </a:ext>
                  </a:extLst>
                </a:gridCol>
              </a:tblGrid>
              <a:tr h="479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system_decision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user_decision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final_decision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449361"/>
                  </a:ext>
                </a:extLst>
              </a:tr>
              <a:tr h="799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HIGH_CONFIDENCE_MATCH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CONFIRMED_SAME_PATIENT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USE_EXISTING_PATIENT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521869"/>
                  </a:ext>
                </a:extLst>
              </a:tr>
              <a:tr h="799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REVIEW_REQUIRED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CONFIRMED_SAME_PATIENT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USE_EXISTING_PATIENT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520004"/>
                  </a:ext>
                </a:extLst>
              </a:tr>
              <a:tr h="799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REVIEW_REQUIRED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CONFIRMED_DIFFERENT_PATIENT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CREATE_NEW_PATIENT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098469"/>
                  </a:ext>
                </a:extLst>
              </a:tr>
              <a:tr h="479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NO_LIKELY_MATCH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NULL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CREATE_NEW_PATIENT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897794"/>
                  </a:ext>
                </a:extLst>
              </a:tr>
              <a:tr h="479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REVIEW_REQUIRED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MATCH_NOT_REVIEWED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PENDING_REVIEW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499424"/>
                  </a:ext>
                </a:extLst>
              </a:tr>
              <a:tr h="479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NO_LIKELY_MATCH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MANUAL_MATCH</a:t>
                      </a:r>
                      <a:endParaRPr lang="en-IN" sz="12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USE_EXISTING_PATIENT</a:t>
                      </a:r>
                      <a:endParaRPr lang="en-IN" sz="12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7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62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9AFDEA-2176-4818-68CD-AB4B329AFBBD}"/>
              </a:ext>
            </a:extLst>
          </p:cNvPr>
          <p:cNvSpPr txBox="1"/>
          <p:nvPr/>
        </p:nvSpPr>
        <p:spPr>
          <a:xfrm>
            <a:off x="6392636" y="937912"/>
            <a:ext cx="377026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Frontend</a:t>
            </a:r>
          </a:p>
          <a:p>
            <a:r>
              <a:rPr lang="en-IN" sz="1400" dirty="0"/>
              <a:t>React / existing web application</a:t>
            </a:r>
          </a:p>
          <a:p>
            <a:pPr algn="ctr"/>
            <a:r>
              <a:rPr lang="en-IN" sz="1400" dirty="0"/>
              <a:t>↓ </a:t>
            </a:r>
          </a:p>
          <a:p>
            <a:r>
              <a:rPr lang="en-IN" sz="1400" dirty="0"/>
              <a:t>Patient Identity Resolution Service</a:t>
            </a:r>
          </a:p>
          <a:p>
            <a:r>
              <a:rPr lang="en-IN" sz="1400" dirty="0"/>
              <a:t>Python</a:t>
            </a:r>
          </a:p>
          <a:p>
            <a:r>
              <a:rPr lang="en-IN" sz="1400" dirty="0"/>
              <a:t>        │</a:t>
            </a:r>
          </a:p>
          <a:p>
            <a:r>
              <a:rPr lang="en-IN" sz="1400" dirty="0"/>
              <a:t>        ├── Weighted scoring</a:t>
            </a:r>
          </a:p>
          <a:p>
            <a:r>
              <a:rPr lang="en-IN" sz="1400" dirty="0"/>
              <a:t>        ▼</a:t>
            </a:r>
          </a:p>
          <a:p>
            <a:r>
              <a:rPr lang="en-IN" sz="1400" dirty="0"/>
              <a:t>PostgreSQL</a:t>
            </a:r>
          </a:p>
          <a:p>
            <a:r>
              <a:rPr lang="en-IN" sz="1400" dirty="0"/>
              <a:t>        │</a:t>
            </a:r>
          </a:p>
          <a:p>
            <a:r>
              <a:rPr lang="en-IN" sz="1400" dirty="0"/>
              <a:t>        ├── </a:t>
            </a:r>
            <a:r>
              <a:rPr lang="en-IN" sz="1400" dirty="0" err="1"/>
              <a:t>patients_master</a:t>
            </a:r>
            <a:endParaRPr lang="en-IN" sz="1400" dirty="0"/>
          </a:p>
          <a:p>
            <a:r>
              <a:rPr lang="en-IN" sz="1400" dirty="0"/>
              <a:t>        └── </a:t>
            </a:r>
            <a:r>
              <a:rPr lang="en-IN" sz="1400" dirty="0" err="1"/>
              <a:t>patient_identity_index</a:t>
            </a:r>
            <a:endParaRPr lang="en-IN" sz="1400" dirty="0"/>
          </a:p>
          <a:p>
            <a:r>
              <a:rPr lang="en-IN" sz="1400" dirty="0"/>
              <a:t>        └── </a:t>
            </a:r>
            <a:r>
              <a:rPr lang="en-IN" sz="1400" dirty="0" err="1"/>
              <a:t>patient_match_audit</a:t>
            </a:r>
            <a:endParaRPr lang="en-IN" sz="1400" dirty="0"/>
          </a:p>
          <a:p>
            <a:r>
              <a:rPr lang="en-IN" sz="1400" dirty="0"/>
              <a:t>        │</a:t>
            </a:r>
          </a:p>
          <a:p>
            <a:r>
              <a:rPr lang="en-IN" sz="1400" dirty="0"/>
              <a:t>        ▼</a:t>
            </a:r>
          </a:p>
          <a:p>
            <a:r>
              <a:rPr lang="en-IN" sz="1400" dirty="0"/>
              <a:t>Optional at scale</a:t>
            </a:r>
          </a:p>
          <a:p>
            <a:r>
              <a:rPr lang="en-IN" sz="1400" dirty="0"/>
              <a:t>OpenSearch / Elasticsearch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D69CC4-6A12-B8F5-85F2-073A1BAB3EB2}"/>
              </a:ext>
            </a:extLst>
          </p:cNvPr>
          <p:cNvSpPr txBox="1"/>
          <p:nvPr/>
        </p:nvSpPr>
        <p:spPr>
          <a:xfrm>
            <a:off x="631916" y="285597"/>
            <a:ext cx="60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2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/>
              <a:t>Technology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EB9C36-7FF8-C22C-BB92-827351A8E17D}"/>
              </a:ext>
            </a:extLst>
          </p:cNvPr>
          <p:cNvSpPr txBox="1"/>
          <p:nvPr/>
        </p:nvSpPr>
        <p:spPr>
          <a:xfrm>
            <a:off x="631916" y="5915689"/>
            <a:ext cx="10138410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Based on Form Recommended Combination : Mr. No/ABHA/UHID → phone/DOB → name/address fuzzy matching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7F4F3-02E1-A7AD-C5C1-664F40C89785}"/>
              </a:ext>
            </a:extLst>
          </p:cNvPr>
          <p:cNvSpPr txBox="1"/>
          <p:nvPr/>
        </p:nvSpPr>
        <p:spPr>
          <a:xfrm>
            <a:off x="548640" y="2100369"/>
            <a:ext cx="48610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POST 	/patients/verify </a:t>
            </a:r>
          </a:p>
          <a:p>
            <a:pPr algn="ctr"/>
            <a:r>
              <a:rPr lang="en-IN" sz="1400" dirty="0"/>
              <a:t>↓ </a:t>
            </a:r>
          </a:p>
          <a:p>
            <a:pPr algn="ctr"/>
            <a:r>
              <a:rPr lang="en-IN" sz="1400" dirty="0"/>
              <a:t>Identity resolution </a:t>
            </a:r>
          </a:p>
          <a:p>
            <a:pPr algn="ctr"/>
            <a:r>
              <a:rPr lang="en-IN" sz="1400" dirty="0"/>
              <a:t>↓ </a:t>
            </a:r>
          </a:p>
          <a:p>
            <a:pPr algn="ctr"/>
            <a:r>
              <a:rPr lang="en-IN" sz="1400" dirty="0"/>
              <a:t>Decision </a:t>
            </a:r>
          </a:p>
          <a:p>
            <a:pPr algn="ctr"/>
            <a:r>
              <a:rPr lang="en-IN" sz="1400" dirty="0"/>
              <a:t>↓ </a:t>
            </a:r>
          </a:p>
          <a:p>
            <a:pPr algn="ctr"/>
            <a:r>
              <a:rPr lang="en-IN" sz="1400" dirty="0"/>
              <a:t>User confirmation </a:t>
            </a:r>
          </a:p>
          <a:p>
            <a:pPr algn="ctr"/>
            <a:r>
              <a:rPr lang="en-IN" sz="1400" dirty="0"/>
              <a:t>↓ </a:t>
            </a:r>
          </a:p>
          <a:p>
            <a:pPr algn="ctr"/>
            <a:r>
              <a:rPr lang="en-IN" sz="1400" dirty="0"/>
              <a:t>POST 	/patients/register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1150-FC8B-A2F0-092C-9421FD1FE849}"/>
              </a:ext>
            </a:extLst>
          </p:cNvPr>
          <p:cNvSpPr txBox="1"/>
          <p:nvPr/>
        </p:nvSpPr>
        <p:spPr>
          <a:xfrm>
            <a:off x="1789611" y="1469961"/>
            <a:ext cx="3482883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Registration API Flow</a:t>
            </a:r>
          </a:p>
        </p:txBody>
      </p:sp>
    </p:spTree>
    <p:extLst>
      <p:ext uri="{BB962C8B-B14F-4D97-AF65-F5344CB8AC3E}">
        <p14:creationId xmlns:p14="http://schemas.microsoft.com/office/powerpoint/2010/main" val="586604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1560</Words>
  <Application>Microsoft Office PowerPoint</Application>
  <PresentationFormat>Widescreen</PresentationFormat>
  <Paragraphs>500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Komal Malhotra</dc:creator>
  <cp:lastModifiedBy>Komal Malhotra</cp:lastModifiedBy>
  <cp:revision>5</cp:revision>
  <dcterms:created xsi:type="dcterms:W3CDTF">2026-08-28T04:26:59Z</dcterms:created>
  <dcterms:modified xsi:type="dcterms:W3CDTF">2026-08-28T06:38:33Z</dcterms:modified>
</cp:coreProperties>
</file>